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81" r:id="rId2"/>
    <p:sldId id="288" r:id="rId3"/>
    <p:sldId id="268" r:id="rId4"/>
    <p:sldId id="289" r:id="rId5"/>
    <p:sldId id="290" r:id="rId6"/>
    <p:sldId id="291" r:id="rId7"/>
    <p:sldId id="294" r:id="rId8"/>
    <p:sldId id="292" r:id="rId9"/>
    <p:sldId id="293" r:id="rId10"/>
    <p:sldId id="295" r:id="rId11"/>
    <p:sldId id="296" r:id="rId12"/>
    <p:sldId id="275" r:id="rId13"/>
    <p:sldId id="274" r:id="rId14"/>
    <p:sldId id="280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0"/>
    <p:restoredTop sz="82993"/>
  </p:normalViewPr>
  <p:slideViewPr>
    <p:cSldViewPr snapToGrid="0">
      <p:cViewPr>
        <p:scale>
          <a:sx n="90" d="100"/>
          <a:sy n="90" d="100"/>
        </p:scale>
        <p:origin x="174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A2C82-387E-4A49-B5CE-4079DA5A7E20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92260-7B80-4145-BACE-C9B7F6DE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3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you need METHODS mentors (or experts), not SUBJECT mentors.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09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Why do mentors mentor?</a:t>
            </a:r>
          </a:p>
          <a:p>
            <a:r>
              <a:rPr lang="en-US" sz="2400" dirty="0"/>
              <a:t>Intrinsic: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Training the Next Generation; Improve Medicine; Fun</a:t>
            </a:r>
          </a:p>
          <a:p>
            <a:r>
              <a:rPr lang="en-US" sz="2400" dirty="0"/>
              <a:t>Incentives: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Clinical Track (majority) – need impact outside of the institution (“excellence”) in 2 of: Clinical Care,</a:t>
            </a:r>
            <a:r>
              <a:rPr lang="en-US" sz="2400" b="1" dirty="0"/>
              <a:t> Education</a:t>
            </a:r>
            <a:r>
              <a:rPr lang="en-US" sz="2400" dirty="0"/>
              <a:t>, Administration, and </a:t>
            </a:r>
            <a:r>
              <a:rPr lang="en-US" sz="2400" b="1" dirty="0"/>
              <a:t>Research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Tenure Track or similar (minority) – hired (and promoted) to get extra-mural grants: you are helpful to the extent you facility this (publications, preliminary work).</a:t>
            </a:r>
          </a:p>
          <a:p>
            <a:pPr lvl="2"/>
            <a:r>
              <a:rPr lang="en-US" sz="2400" dirty="0"/>
              <a:t>Favors executing previously-conceived projects; has ability/skill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do you want to get from this? (Everyone wants to graduate)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See if you can make academic research work?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See if you like doing research?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Gain quantitative skills? Writing skills? Reasoning Skills?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 ] Emphasize differences in TIME to devote to research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0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4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78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https://m-mi-</a:t>
            </a:r>
            <a:r>
              <a:rPr lang="en-US" dirty="0" err="1"/>
              <a:t>lab.github.io</a:t>
            </a:r>
            <a:r>
              <a:rPr lang="en-US" dirty="0"/>
              <a:t>/about/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44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61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76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ebm.bmj.com</a:t>
            </a:r>
            <a:r>
              <a:rPr lang="en-US" dirty="0"/>
              <a:t>/content/28/6/392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62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What is the course of people who receives VBGs in the emergency department? 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*** need data on where the lab was drawn... I think we actually have this.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17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CTSI </a:t>
            </a:r>
            <a:r>
              <a:rPr lang="en-US" dirty="0" err="1"/>
              <a:t>srma</a:t>
            </a:r>
            <a:r>
              <a:rPr lang="en-US" dirty="0"/>
              <a:t> core, meta-analysis course,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59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92260-7B80-4145-BACE-C9B7F6DE2F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8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7A22-6EB6-A8FF-066A-52DAD680E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871F4-A70A-88D4-5DAA-ECC6FD23C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59B3B-B8DD-3DD7-6E5A-5B1F4D95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37BAC-3A09-0FF0-647E-6CB1852C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C7E0-8B4D-4B70-0B5E-B8A645E0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DF80-5E88-B416-0301-241AACDC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BA6E-331F-1FE8-13AE-6CC12B8AA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511F2-5F62-3A32-DA5A-F6AF52F2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15DA4-2302-A120-8BFE-BB09FBCC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09F1-8579-76AE-DE97-97444BDD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3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93DA-A76A-9D05-81EF-2AC928D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D040E-F7BC-94F5-D626-633BBBB4D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7DE90-7CCC-1CC9-54F8-9DDE30A5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E074-B20E-93CB-2334-DA1CAB4E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4E23-FB1A-3B68-EB0C-0904301F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8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CA56-FBBD-ACC3-0C4A-C826301FE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2ADA2-573E-32E7-DBF7-C936EB4B3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77B8A-BCED-C180-3C24-B0DA8DD33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D916-2859-4596-F92B-28652897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37CA8-3FEC-80DA-FAA9-96EC0B72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D2F8-77EE-5DE7-3C78-B1006053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1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F101-4151-2B55-B5DE-3F4ECB8F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E5714-37E6-DD76-836C-5A714FE6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09670-0C6B-9FC0-39D5-E53715F00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7FF42-E350-395A-BF27-10D64F17F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92F9C-0450-AE36-47D6-720FD1DEF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48362-B287-EA98-FBDE-F6DF4776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66ECF-3018-018D-3A1B-7C9E19FD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8DCAA-036F-66B8-7DB5-1D87B502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BAD1-CA70-1A46-2E5B-3A9BCEBA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0304-1971-C44A-8C7F-34C5B8F3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94F50-2BEE-DA25-3753-E9A30057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F0C08-0692-64E3-75D1-2675CF25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9F5F8-1309-492D-198E-2D2E0892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E9727-1301-E537-1BE1-52DE44AA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40F3F-DFB5-05C6-BC34-75E8E718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9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5346-384E-EB2D-AC8C-E9C1EFC5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1029-B99C-3322-98AB-80E879A78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F98A6-9600-8536-D102-4F3EAE2BA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DF9C7-8E5B-617C-63B5-225D0613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EBB02-12D9-456C-0479-66A78EA3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42B62-ACB2-84DD-64DE-4C40EF24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7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5874-B07C-3B9C-4C18-C5F69C31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F5570-DF8D-ED01-7CE6-FD6D5B1DF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828CF-B214-A73F-35C5-A57635889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46367-0607-AB24-BEA9-A15C6792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F7329-C2C1-9056-9E51-13FB24B3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772F4-FF61-2499-EE6C-CF47C593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2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35CF-D21A-763F-F183-D383A321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89FA5-1466-0CEC-931B-8350CEB55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3E0E-49EE-14DB-3579-BF6F7C5D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79DF3-E32A-CF26-24F0-D298E04E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84B4C-0C49-3CB8-A5A8-CABF1B4E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5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CDA79-E980-B259-B6C1-CDAC25FF9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111B2-6222-F34A-1607-9D0B04F21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F9DEF-FA49-9ACA-6749-C715220D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F35A2-F0A2-D6EC-655F-5C810CCE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E6C0A-4D27-C0D1-BC2C-6EA4E2E7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8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96252-21CD-61D1-CC9A-3C141441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CA57F-09D9-6D12-A107-8F4F726F0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065A8-E420-FC3D-7C80-9C6EC65B2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1EA20-798B-B945-A1AD-FA7652B7ABC6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18915-AF03-0401-D0AC-18A16FCAD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4DEEA-34EB-6285-0FB8-7562DEC51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80DBA-1F2A-8140-BFF5-05DEA08E5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4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EE8325-236B-3A52-2375-9BDD4F71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70" y="100843"/>
            <a:ext cx="6699738" cy="2524233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EBF11B40-69CA-7CD1-E1DF-75902717C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281" y="1124522"/>
            <a:ext cx="6205565" cy="568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DB4D23-8E0B-EB2C-1A94-980BA0C3F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70" y="3433664"/>
            <a:ext cx="5703962" cy="16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5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DCF9-3E54-4CFA-C0DE-F22A69C3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9DC4-762F-73CB-06E8-C0541CF3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Assistant Professor, Clinical Investigation. Intermountain Medical Center. </a:t>
            </a:r>
          </a:p>
          <a:p>
            <a:pPr marL="0" indent="0">
              <a:buNone/>
            </a:pPr>
            <a:r>
              <a:rPr lang="en-US" dirty="0"/>
              <a:t>50% Clinical; Evaluated based on grant success</a:t>
            </a:r>
          </a:p>
          <a:p>
            <a:r>
              <a:rPr lang="en-US" dirty="0"/>
              <a:t>BS Computer Science &amp; MS Clinical Investigation</a:t>
            </a:r>
          </a:p>
          <a:p>
            <a:r>
              <a:rPr lang="en-US" dirty="0"/>
              <a:t>Intermountain Early Career Grant: FUND-Hypercapnia</a:t>
            </a:r>
          </a:p>
          <a:p>
            <a:r>
              <a:rPr lang="en-US" dirty="0"/>
              <a:t>K23 (Career Development Award) pending review at NIH/NHLBI</a:t>
            </a:r>
          </a:p>
          <a:p>
            <a:r>
              <a:rPr lang="en-US" dirty="0"/>
              <a:t>COI startup MTN [and UU Medical Machine Intelligence Lab] SBIRs pending</a:t>
            </a:r>
          </a:p>
          <a:p>
            <a:r>
              <a:rPr lang="en-US" dirty="0"/>
              <a:t>Interests: </a:t>
            </a:r>
          </a:p>
          <a:p>
            <a:pPr lvl="1"/>
            <a:r>
              <a:rPr lang="en-US" b="1" dirty="0"/>
              <a:t>Hypercapnic Respiratory Failure Clinical Epidemiology and Management</a:t>
            </a:r>
          </a:p>
          <a:p>
            <a:pPr lvl="1"/>
            <a:r>
              <a:rPr lang="en-US" dirty="0"/>
              <a:t>Clinical Reasoning and Didactic Methods</a:t>
            </a:r>
          </a:p>
          <a:p>
            <a:pPr lvl="1"/>
            <a:r>
              <a:rPr lang="en-US" dirty="0"/>
              <a:t>Medical AI and Research Informatics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5622-24E7-CC16-78B8-C801CD0B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524"/>
            <a:ext cx="10515600" cy="1325563"/>
          </a:xfrm>
        </p:spPr>
        <p:txBody>
          <a:bodyPr/>
          <a:lstStyle/>
          <a:p>
            <a:r>
              <a:rPr lang="en-US" dirty="0"/>
              <a:t>Hypercapnic Respiratory Failure: </a:t>
            </a:r>
            <a:br>
              <a:rPr lang="en-US" dirty="0"/>
            </a:br>
            <a:r>
              <a:rPr lang="en-US" b="1" dirty="0"/>
              <a:t>Overall research premise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0262-B9BA-99D6-BE91-841AF689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024"/>
            <a:ext cx="10515600" cy="4351338"/>
          </a:xfrm>
        </p:spPr>
        <p:txBody>
          <a:bodyPr/>
          <a:lstStyle/>
          <a:p>
            <a:r>
              <a:rPr lang="en-US" dirty="0"/>
              <a:t>inflicts a high burden of disease (prevalence * morbidity) </a:t>
            </a:r>
          </a:p>
          <a:p>
            <a:r>
              <a:rPr lang="en-US" dirty="0"/>
              <a:t>is becoming a bigger problem (obesity, opiates, multimorbidity)</a:t>
            </a:r>
          </a:p>
          <a:p>
            <a:r>
              <a:rPr lang="en-US" dirty="0"/>
              <a:t>is (potentially) treatable with NIV, GLP-1Ra, etc. </a:t>
            </a:r>
          </a:p>
          <a:p>
            <a:pPr lvl="1"/>
            <a:r>
              <a:rPr lang="en-US" dirty="0"/>
              <a:t>but the current evidence base is inadequate</a:t>
            </a:r>
          </a:p>
          <a:p>
            <a:r>
              <a:rPr lang="en-US" dirty="0"/>
              <a:t>is comparatively neglected (biases against this type of patient)</a:t>
            </a:r>
          </a:p>
          <a:p>
            <a:pPr marL="0" indent="0">
              <a:buNone/>
            </a:pPr>
            <a:r>
              <a:rPr lang="en-US" dirty="0"/>
              <a:t>Therefore, doing a better job recognizing hypercapnia will allow: </a:t>
            </a:r>
          </a:p>
          <a:p>
            <a:r>
              <a:rPr lang="en-US" dirty="0"/>
              <a:t>Better quantification (</a:t>
            </a:r>
            <a:r>
              <a:rPr lang="en-US" dirty="0" err="1"/>
              <a:t>ie</a:t>
            </a:r>
            <a:r>
              <a:rPr lang="en-US" dirty="0"/>
              <a:t>. research) about hypercapnia’s impacts</a:t>
            </a:r>
          </a:p>
          <a:p>
            <a:r>
              <a:rPr lang="en-US" dirty="0"/>
              <a:t>Better care for patients with known best management. </a:t>
            </a:r>
          </a:p>
        </p:txBody>
      </p:sp>
    </p:spTree>
    <p:extLst>
      <p:ext uri="{BB962C8B-B14F-4D97-AF65-F5344CB8AC3E}">
        <p14:creationId xmlns:p14="http://schemas.microsoft.com/office/powerpoint/2010/main" val="201031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0C98-28E2-7F0D-F103-460552E7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CBB8-31F7-8B6D-9F8E-C7E0D7CB8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can: </a:t>
            </a:r>
          </a:p>
          <a:p>
            <a:pPr lvl="1"/>
            <a:r>
              <a:rPr lang="en-US" dirty="0"/>
              <a:t>Guide clinical investigation skillset development</a:t>
            </a:r>
          </a:p>
          <a:p>
            <a:pPr lvl="1"/>
            <a:r>
              <a:rPr lang="en-US" u="sng" dirty="0"/>
              <a:t>Provide ideas, data, and projects</a:t>
            </a:r>
          </a:p>
          <a:p>
            <a:pPr lvl="1"/>
            <a:r>
              <a:rPr lang="en-US" dirty="0"/>
              <a:t>Help analyze data</a:t>
            </a:r>
          </a:p>
          <a:p>
            <a:pPr lvl="1"/>
            <a:r>
              <a:rPr lang="en-US" dirty="0"/>
              <a:t>Identify resources/data </a:t>
            </a:r>
          </a:p>
          <a:p>
            <a:pPr lvl="1"/>
            <a:r>
              <a:rPr lang="en-US" dirty="0"/>
              <a:t>Matchmake with numerous groups (UU &amp; IMC)</a:t>
            </a:r>
          </a:p>
          <a:p>
            <a:pPr lvl="1"/>
            <a:r>
              <a:rPr lang="en-US" dirty="0"/>
              <a:t>Fund conference travel / pub fees for trainees</a:t>
            </a:r>
          </a:p>
          <a:p>
            <a:pPr lvl="1"/>
            <a:endParaRPr lang="en-US" dirty="0"/>
          </a:p>
          <a:p>
            <a:r>
              <a:rPr lang="en-US" dirty="0"/>
              <a:t>I can’t: </a:t>
            </a:r>
          </a:p>
          <a:p>
            <a:pPr lvl="1"/>
            <a:r>
              <a:rPr lang="en-US" dirty="0"/>
              <a:t>Legitimize your grant application or elevate your project at ATS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653C0D-2FAD-4699-4538-EA1F7EA93CC8}"/>
              </a:ext>
            </a:extLst>
          </p:cNvPr>
          <p:cNvSpPr txBox="1">
            <a:spLocks/>
          </p:cNvSpPr>
          <p:nvPr/>
        </p:nvSpPr>
        <p:spPr>
          <a:xfrm>
            <a:off x="8705088" y="482808"/>
            <a:ext cx="2947416" cy="46386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/>
              <a:t>Collabs/Mentees</a:t>
            </a:r>
          </a:p>
          <a:p>
            <a:pPr marL="0" indent="0">
              <a:buNone/>
            </a:pPr>
            <a:r>
              <a:rPr lang="en-US" dirty="0" err="1"/>
              <a:t>Scarpato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Graham</a:t>
            </a:r>
          </a:p>
          <a:p>
            <a:pPr marL="0" indent="0">
              <a:buNone/>
            </a:pPr>
            <a:r>
              <a:rPr lang="en-US" dirty="0"/>
              <a:t>Darren </a:t>
            </a:r>
          </a:p>
          <a:p>
            <a:pPr marL="0" indent="0">
              <a:buNone/>
            </a:pPr>
            <a:r>
              <a:rPr lang="en-US" dirty="0"/>
              <a:t>Dustin</a:t>
            </a:r>
          </a:p>
          <a:p>
            <a:pPr marL="0" indent="0">
              <a:buNone/>
            </a:pPr>
            <a:r>
              <a:rPr lang="en-US" dirty="0"/>
              <a:t>Alex</a:t>
            </a:r>
          </a:p>
          <a:p>
            <a:pPr marL="0" indent="0">
              <a:buNone/>
            </a:pPr>
            <a:r>
              <a:rPr lang="en-US" dirty="0"/>
              <a:t>Casey </a:t>
            </a:r>
            <a:r>
              <a:rPr lang="en-US" dirty="0" err="1"/>
              <a:t>Fengerer</a:t>
            </a:r>
            <a:r>
              <a:rPr lang="en-US" dirty="0"/>
              <a:t> (PMR)</a:t>
            </a:r>
          </a:p>
          <a:p>
            <a:pPr marL="0" indent="0">
              <a:buNone/>
            </a:pPr>
            <a:r>
              <a:rPr lang="en-US" dirty="0"/>
              <a:t>Somya Mishra (</a:t>
            </a:r>
            <a:r>
              <a:rPr lang="en-US" dirty="0" err="1"/>
              <a:t>Anesth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69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D363-C7A3-A81A-CB20-3F70E838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Hypercapnic respiratory failure work-ups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6869-8725-82F5-0A82-1AEB9026E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07" y="1825625"/>
            <a:ext cx="5601789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Question: </a:t>
            </a:r>
            <a:r>
              <a:rPr lang="en-US" dirty="0"/>
              <a:t>What portion of patients with inpatient hypercapnia have received, or will receive, testing (PFT, TTE, PSG/HSAT) in UT? </a:t>
            </a:r>
          </a:p>
          <a:p>
            <a:r>
              <a:rPr lang="en-US" b="1" dirty="0"/>
              <a:t>Method: </a:t>
            </a:r>
            <a:r>
              <a:rPr lang="en-US" dirty="0"/>
              <a:t>Intermountain-UPDB linkage</a:t>
            </a:r>
          </a:p>
          <a:p>
            <a:r>
              <a:rPr lang="en-US" b="1" dirty="0"/>
              <a:t>Status: </a:t>
            </a:r>
            <a:r>
              <a:rPr lang="en-US" dirty="0"/>
              <a:t>Pre-research done, Funded, in Regulatory Approval.</a:t>
            </a:r>
          </a:p>
          <a:p>
            <a:r>
              <a:rPr lang="en-US" b="1" dirty="0"/>
              <a:t>Need: </a:t>
            </a:r>
            <a:r>
              <a:rPr lang="en-US" dirty="0"/>
              <a:t>Design/Writing/Analysis assistance</a:t>
            </a:r>
          </a:p>
          <a:p>
            <a:r>
              <a:rPr lang="en-US" b="1" dirty="0"/>
              <a:t>Ideal for: </a:t>
            </a:r>
            <a:r>
              <a:rPr lang="en-US" dirty="0"/>
              <a:t>interest in epi &amp; chronic resp failure</a:t>
            </a:r>
          </a:p>
          <a:p>
            <a:r>
              <a:rPr lang="en-US" b="1" dirty="0"/>
              <a:t>Team: </a:t>
            </a:r>
            <a:r>
              <a:rPr lang="en-US" dirty="0"/>
              <a:t>Ithan Peltan, Sam Brown, Me</a:t>
            </a:r>
          </a:p>
          <a:p>
            <a:r>
              <a:rPr lang="en-US" b="1" dirty="0"/>
              <a:t>Payoff: </a:t>
            </a: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author on main paper (High impact </a:t>
            </a:r>
            <a:r>
              <a:rPr lang="en-US" dirty="0" err="1"/>
              <a:t>pulm</a:t>
            </a:r>
            <a:r>
              <a:rPr lang="en-US" dirty="0"/>
              <a:t>), 1</a:t>
            </a:r>
            <a:r>
              <a:rPr lang="en-US" baseline="30000" dirty="0"/>
              <a:t>st</a:t>
            </a:r>
            <a:r>
              <a:rPr lang="en-US" dirty="0"/>
              <a:t> author on spin-offs and conference.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981AA-9F58-2E3E-2099-78692C85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416" y="1780236"/>
            <a:ext cx="5889332" cy="41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8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CD94-7C49-1050-6F36-98DC2D16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Select-Health ML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DE4C-06AB-594B-DDA1-FCFF12D25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4509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Aim: </a:t>
            </a:r>
            <a:r>
              <a:rPr lang="en-US" dirty="0"/>
              <a:t>Identify Potentially Modifiable Predictors of Utilization in High-Risk Patients, such as hypercapnic RF and others*</a:t>
            </a:r>
          </a:p>
          <a:p>
            <a:r>
              <a:rPr lang="en-US" b="1" dirty="0"/>
              <a:t>Method: </a:t>
            </a:r>
            <a:r>
              <a:rPr lang="en-US" dirty="0"/>
              <a:t>IMED-Select Health Linkage; apply machine learning w select patient chars and process measures to predict ED/Admit/ICU</a:t>
            </a:r>
          </a:p>
          <a:p>
            <a:r>
              <a:rPr lang="en-US" b="1" dirty="0"/>
              <a:t>Status: </a:t>
            </a:r>
            <a:r>
              <a:rPr lang="en-US" dirty="0"/>
              <a:t>Funded, in regulatory approval</a:t>
            </a:r>
          </a:p>
          <a:p>
            <a:r>
              <a:rPr lang="en-US" b="1" dirty="0"/>
              <a:t>Need: </a:t>
            </a:r>
            <a:r>
              <a:rPr lang="en-US" dirty="0"/>
              <a:t>Lead spin-off projects in other </a:t>
            </a:r>
            <a:r>
              <a:rPr lang="en-US" dirty="0" err="1"/>
              <a:t>dz</a:t>
            </a:r>
            <a:r>
              <a:rPr lang="en-US" dirty="0"/>
              <a:t> states.</a:t>
            </a:r>
          </a:p>
          <a:p>
            <a:r>
              <a:rPr lang="en-US" b="1" dirty="0"/>
              <a:t>Ideal for: </a:t>
            </a:r>
            <a:r>
              <a:rPr lang="en-US" dirty="0"/>
              <a:t>interest in machine learning, economics</a:t>
            </a:r>
          </a:p>
          <a:p>
            <a:r>
              <a:rPr lang="en-US" b="1" dirty="0"/>
              <a:t>Team: </a:t>
            </a:r>
            <a:r>
              <a:rPr lang="en-US" dirty="0"/>
              <a:t>Me, David Hedges (SH), Rylan Fowles (SH), Sam Brown</a:t>
            </a:r>
          </a:p>
          <a:p>
            <a:r>
              <a:rPr lang="en-US" b="1" dirty="0"/>
              <a:t>Payoff: </a:t>
            </a:r>
            <a:r>
              <a:rPr lang="en-US" dirty="0"/>
              <a:t>Mid-author in </a:t>
            </a:r>
            <a:r>
              <a:rPr lang="en-US" dirty="0" err="1"/>
              <a:t>hypercap</a:t>
            </a:r>
            <a:r>
              <a:rPr lang="en-US" dirty="0"/>
              <a:t> pub, 1</a:t>
            </a:r>
            <a:r>
              <a:rPr lang="en-US" baseline="30000" dirty="0"/>
              <a:t>st</a:t>
            </a:r>
            <a:r>
              <a:rPr lang="en-US" dirty="0"/>
              <a:t> auth in spinoffs.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59F2D-26EB-2967-431B-BDA6411D9B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4" t="2448" b="4001"/>
          <a:stretch/>
        </p:blipFill>
        <p:spPr bwMode="auto">
          <a:xfrm>
            <a:off x="8934994" y="170640"/>
            <a:ext cx="2646182" cy="65167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381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0A8F-6962-605A-9520-373A43A7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Hypercapnia Presenting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41D4-1F56-20C6-00A1-276A49F4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0605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Aim:</a:t>
            </a:r>
            <a:r>
              <a:rPr lang="en-US" dirty="0"/>
              <a:t> What are the most common chief concerns at presentation for patients identified to have hypercapnic respiratory failure?</a:t>
            </a:r>
          </a:p>
          <a:p>
            <a:r>
              <a:rPr lang="en-US" b="1" dirty="0"/>
              <a:t>Method:</a:t>
            </a:r>
            <a:r>
              <a:rPr lang="en-US" dirty="0"/>
              <a:t> Retrospective analysis of MIMIC-IV </a:t>
            </a:r>
          </a:p>
          <a:p>
            <a:r>
              <a:rPr lang="en-US" b="1" dirty="0"/>
              <a:t>Status:</a:t>
            </a:r>
            <a:r>
              <a:rPr lang="en-US" dirty="0"/>
              <a:t> Have </a:t>
            </a:r>
            <a:r>
              <a:rPr lang="en-US" strike="sngStrike" dirty="0"/>
              <a:t>approval</a:t>
            </a:r>
            <a:r>
              <a:rPr lang="en-US" dirty="0"/>
              <a:t>, data access &amp; idea, have not designed/performed analysis.</a:t>
            </a:r>
          </a:p>
          <a:p>
            <a:r>
              <a:rPr lang="en-US" b="1" dirty="0"/>
              <a:t>Need:</a:t>
            </a:r>
            <a:r>
              <a:rPr lang="en-US" dirty="0"/>
              <a:t> Fellow to lead design and writing, stats prn</a:t>
            </a:r>
          </a:p>
          <a:p>
            <a:r>
              <a:rPr lang="en-US" b="1" dirty="0"/>
              <a:t>Ideal for: </a:t>
            </a:r>
            <a:r>
              <a:rPr lang="en-US" dirty="0"/>
              <a:t>informatics interest, chronic resp failure	 </a:t>
            </a:r>
          </a:p>
          <a:p>
            <a:r>
              <a:rPr lang="en-US" b="1" dirty="0"/>
              <a:t>Team: </a:t>
            </a:r>
            <a:r>
              <a:rPr lang="en-US" dirty="0"/>
              <a:t>Me, Matthias </a:t>
            </a:r>
            <a:r>
              <a:rPr lang="en-US" dirty="0" err="1"/>
              <a:t>Chirstensen</a:t>
            </a:r>
            <a:r>
              <a:rPr lang="en-US" dirty="0"/>
              <a:t> (UU adj), Warren Pettine (Comp Neuro prof)</a:t>
            </a:r>
          </a:p>
          <a:p>
            <a:r>
              <a:rPr lang="en-US" b="1" dirty="0"/>
              <a:t>Payoff: </a:t>
            </a: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author publication (low-mid tier journal, ?higher as letter)</a:t>
            </a:r>
          </a:p>
          <a:p>
            <a:endParaRPr lang="en-US" dirty="0"/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FACAE915-A58C-7132-F2F0-A5C5526F3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696" y="2537981"/>
            <a:ext cx="3537102" cy="25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08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B56A-1F6E-F11C-F3C0-268DCC42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 Artery Size on CTPA,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4F3C-A35B-F643-7F75-C9308C48C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343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Aim</a:t>
            </a:r>
            <a:r>
              <a:rPr lang="en-US" dirty="0"/>
              <a:t>: Ascending Aorta (AA) and PA:AA ratio on CT in ED confer excess mortality risk, but thresholds appear age-specific</a:t>
            </a:r>
          </a:p>
          <a:p>
            <a:r>
              <a:rPr lang="en-US" b="1" dirty="0"/>
              <a:t>Method</a:t>
            </a:r>
            <a:r>
              <a:rPr lang="en-US" dirty="0"/>
              <a:t>: regression modeling of retrospective review.</a:t>
            </a:r>
          </a:p>
          <a:p>
            <a:r>
              <a:rPr lang="en-US" b="1" dirty="0"/>
              <a:t>Status</a:t>
            </a:r>
            <a:r>
              <a:rPr lang="en-US" dirty="0"/>
              <a:t>: data acquired, analyzed, and draft written</a:t>
            </a:r>
          </a:p>
          <a:p>
            <a:r>
              <a:rPr lang="en-US" b="1" dirty="0"/>
              <a:t>Need</a:t>
            </a:r>
            <a:r>
              <a:rPr lang="en-US" dirty="0"/>
              <a:t>: a fellow to finish writing/analysis.</a:t>
            </a:r>
          </a:p>
          <a:p>
            <a:r>
              <a:rPr lang="en-US" b="1" dirty="0"/>
              <a:t>Ideal for</a:t>
            </a:r>
            <a:r>
              <a:rPr lang="en-US" dirty="0"/>
              <a:t>: quick win, interest in statistical modeling </a:t>
            </a:r>
          </a:p>
          <a:p>
            <a:r>
              <a:rPr lang="en-US" b="1" dirty="0"/>
              <a:t>Team</a:t>
            </a:r>
            <a:r>
              <a:rPr lang="en-US" dirty="0"/>
              <a:t>: </a:t>
            </a:r>
            <a:r>
              <a:rPr lang="en-US" dirty="0" err="1"/>
              <a:t>Scarpato</a:t>
            </a:r>
            <a:r>
              <a:rPr lang="en-US" dirty="0"/>
              <a:t>, Me, Dodson</a:t>
            </a:r>
          </a:p>
          <a:p>
            <a:r>
              <a:rPr lang="en-US" b="1" dirty="0"/>
              <a:t>Payoff</a:t>
            </a:r>
            <a:r>
              <a:rPr lang="en-US" dirty="0"/>
              <a:t>: 1</a:t>
            </a:r>
            <a:r>
              <a:rPr lang="en-US" baseline="30000" dirty="0"/>
              <a:t>st</a:t>
            </a:r>
            <a:r>
              <a:rPr lang="en-US" dirty="0"/>
              <a:t> author, letter to mid-low tier journal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F24B8-9BCD-91FF-ECAC-4CAD6D4D1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5" y="0"/>
            <a:ext cx="4291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5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E916-0AD1-1D13-076C-9338D01A3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Clinical Reasoning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8D1C-3907-5435-927B-F49CE329E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22920" cy="4351338"/>
          </a:xfrm>
        </p:spPr>
        <p:txBody>
          <a:bodyPr/>
          <a:lstStyle/>
          <a:p>
            <a:r>
              <a:rPr lang="en-US" dirty="0"/>
              <a:t>Aim: Can LLMs be leveraged to learn and assess progress in diagnostic reasoning? </a:t>
            </a:r>
          </a:p>
          <a:p>
            <a:r>
              <a:rPr lang="en-US" dirty="0"/>
              <a:t>Method: paired LLM-Chatbot transcripts, with LLM evaluations and educator assessments</a:t>
            </a:r>
          </a:p>
          <a:p>
            <a:r>
              <a:rPr lang="en-US" dirty="0"/>
              <a:t>Status: Development Beta-testing of product,</a:t>
            </a:r>
          </a:p>
          <a:p>
            <a:r>
              <a:rPr lang="en-US" dirty="0"/>
              <a:t>Need: Fellow Secondary analyses of data; design</a:t>
            </a:r>
          </a:p>
          <a:p>
            <a:r>
              <a:rPr lang="en-US" dirty="0"/>
              <a:t>Team: Cory </a:t>
            </a:r>
            <a:r>
              <a:rPr lang="en-US" dirty="0" err="1"/>
              <a:t>Rohlefsen</a:t>
            </a:r>
            <a:r>
              <a:rPr lang="en-US" dirty="0"/>
              <a:t> (Nebraska), &amp; Harvard </a:t>
            </a:r>
          </a:p>
          <a:p>
            <a:r>
              <a:rPr lang="en-US" dirty="0"/>
              <a:t>Payoff: education publication(s) and credibility from collab w productive group.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AA93F-0FE4-03E5-24EC-13E4E0798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975894"/>
            <a:ext cx="2925176" cy="2336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C56E84-A0B3-E3A0-D178-C89A672FB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781175"/>
            <a:ext cx="3015100" cy="205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6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C69D-7846-D7C5-2E81-95F0A5CC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Medicine Education/Seminar(s)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8F1B-3D02-F6C8-FD3F-36274769A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Aim</a:t>
            </a:r>
            <a:r>
              <a:rPr lang="en-US" dirty="0"/>
              <a:t>: How can we improve the IM residency P/CCM curriculum? </a:t>
            </a:r>
          </a:p>
          <a:p>
            <a:r>
              <a:rPr lang="en-US" b="1" dirty="0"/>
              <a:t>Method</a:t>
            </a:r>
            <a:r>
              <a:rPr lang="en-US" dirty="0"/>
              <a:t>: Delivery and assessment of seminars, e.g. Code Blue</a:t>
            </a:r>
          </a:p>
          <a:p>
            <a:r>
              <a:rPr lang="en-US" b="1" dirty="0"/>
              <a:t>Status</a:t>
            </a:r>
            <a:r>
              <a:rPr lang="en-US" dirty="0"/>
              <a:t>: Code Blue in May; Procedures (or replacement next year)? </a:t>
            </a:r>
          </a:p>
          <a:p>
            <a:r>
              <a:rPr lang="en-US" b="1" dirty="0"/>
              <a:t>Need</a:t>
            </a:r>
            <a:r>
              <a:rPr lang="en-US" dirty="0"/>
              <a:t>: Interest in Education, curricular design/assessment</a:t>
            </a:r>
          </a:p>
          <a:p>
            <a:r>
              <a:rPr lang="en-US" b="1" dirty="0"/>
              <a:t>Team</a:t>
            </a:r>
            <a:r>
              <a:rPr lang="en-US" dirty="0"/>
              <a:t>: Me, Alex(?), IM Chiefs</a:t>
            </a:r>
          </a:p>
          <a:p>
            <a:r>
              <a:rPr lang="en-US" b="1" dirty="0"/>
              <a:t>Payoff</a:t>
            </a:r>
            <a:r>
              <a:rPr lang="en-US" dirty="0"/>
              <a:t>: Local ed cred; abstracts/pub prn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100B0-2444-A739-1191-31889DB9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074" y="4105184"/>
            <a:ext cx="44958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4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CE70-AE43-94AF-CB08-A1A91856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Clinical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5A74C-4588-D6FB-5DEF-7F58E276C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Aim</a:t>
            </a:r>
            <a:r>
              <a:rPr lang="en-US" dirty="0"/>
              <a:t>: do clinicians/trainees properly weight the importance of “enabling conditions” in changing the likelihood of diagnoses?</a:t>
            </a:r>
          </a:p>
          <a:p>
            <a:r>
              <a:rPr lang="en-US" b="1" dirty="0"/>
              <a:t>Method</a:t>
            </a:r>
            <a:r>
              <a:rPr lang="en-US" dirty="0"/>
              <a:t>: survey, scenarios</a:t>
            </a:r>
          </a:p>
          <a:p>
            <a:r>
              <a:rPr lang="en-US" b="1" dirty="0"/>
              <a:t>Status</a:t>
            </a:r>
            <a:r>
              <a:rPr lang="en-US" dirty="0"/>
              <a:t>: idea</a:t>
            </a:r>
          </a:p>
          <a:p>
            <a:r>
              <a:rPr lang="en-US" b="1" dirty="0"/>
              <a:t>Need</a:t>
            </a:r>
            <a:r>
              <a:rPr lang="en-US" dirty="0"/>
              <a:t>: fellow champion for writing and design</a:t>
            </a:r>
          </a:p>
          <a:p>
            <a:r>
              <a:rPr lang="en-US" b="1" dirty="0"/>
              <a:t>Team</a:t>
            </a:r>
            <a:r>
              <a:rPr lang="en-US" dirty="0"/>
              <a:t>: Me, Scott</a:t>
            </a:r>
          </a:p>
          <a:p>
            <a:r>
              <a:rPr lang="en-US" b="1" dirty="0"/>
              <a:t>Payoff</a:t>
            </a:r>
            <a:r>
              <a:rPr lang="en-US" dirty="0"/>
              <a:t>: Gen IM mid tier pub</a:t>
            </a:r>
          </a:p>
        </p:txBody>
      </p:sp>
      <p:pic>
        <p:nvPicPr>
          <p:cNvPr id="2050" name="Picture 2" descr="Figure 3">
            <a:extLst>
              <a:ext uri="{FF2B5EF4-FFF2-40B4-BE49-F238E27FC236}">
                <a16:creationId xmlns:a16="http://schemas.microsoft.com/office/drawing/2014/main" id="{AED72B83-15C0-0E6B-884E-BE53F1EA5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4220341"/>
            <a:ext cx="4627563" cy="262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858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3266-97F8-9216-8EBC-1CEB782C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Hypercapnia Diagnostics: Harm of FP vs FN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E1CD-9ED3-E805-A11B-C314D8189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Thresholds for any test [e.g. HCO3- level, Modeled </a:t>
            </a:r>
            <a:r>
              <a:rPr lang="en-US" dirty="0" err="1"/>
              <a:t>Pr</a:t>
            </a:r>
            <a:r>
              <a:rPr lang="en-US" dirty="0"/>
              <a:t>(</a:t>
            </a:r>
            <a:r>
              <a:rPr lang="en-US" dirty="0" err="1"/>
              <a:t>Hypercap</a:t>
            </a:r>
            <a:r>
              <a:rPr lang="en-US" dirty="0"/>
              <a:t>)] should be defined to minimize the dis-utility of incorrect results. No evidence exists for hypercapnia diagnosis. </a:t>
            </a:r>
          </a:p>
          <a:p>
            <a:r>
              <a:rPr lang="en-US" dirty="0"/>
              <a:t>Study Question: How bad is it to miss hypercapnia in comparison to </a:t>
            </a:r>
            <a:r>
              <a:rPr lang="en-US" dirty="0" err="1"/>
              <a:t>overtesting</a:t>
            </a:r>
            <a:r>
              <a:rPr lang="en-US" dirty="0"/>
              <a:t>/</a:t>
            </a:r>
            <a:r>
              <a:rPr lang="en-US" dirty="0" err="1"/>
              <a:t>overdiagnosing</a:t>
            </a:r>
            <a:r>
              <a:rPr lang="en-US" dirty="0"/>
              <a:t> it? </a:t>
            </a:r>
          </a:p>
          <a:p>
            <a:r>
              <a:rPr lang="en-US" dirty="0"/>
              <a:t>Data: Survey (initially, providers – via Hosp/PCCM/Sleep groups)</a:t>
            </a:r>
          </a:p>
          <a:p>
            <a:r>
              <a:rPr lang="en-US" dirty="0"/>
              <a:t>Methods: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34072-BBE9-CE28-590B-CF61ABF03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669" y="4561032"/>
            <a:ext cx="5190744" cy="1419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60452-DE5C-2965-F7DC-0EAE33578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626" y="5981028"/>
            <a:ext cx="7772400" cy="77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34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3266-97F8-9216-8EBC-1CEB782C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Hypercap</a:t>
            </a:r>
            <a:r>
              <a:rPr lang="en-US" dirty="0"/>
              <a:t>. Diagnosis: ABG vs VBG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E1CD-9ED3-E805-A11B-C314D8189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Emergency room providers often use VBGs to “diagnose” hypercapnia, but it’s unclear if they get managed like ABG-diagnosed</a:t>
            </a:r>
          </a:p>
          <a:p>
            <a:r>
              <a:rPr lang="en-US" dirty="0"/>
              <a:t>Study Question: Do patients admitted with VBGs suggestive of hypercapnia </a:t>
            </a:r>
          </a:p>
          <a:p>
            <a:pPr lvl="1"/>
            <a:r>
              <a:rPr lang="en-US" dirty="0"/>
              <a:t>Receive the same care (</a:t>
            </a:r>
            <a:r>
              <a:rPr lang="en-US" dirty="0" err="1"/>
              <a:t>ie</a:t>
            </a:r>
            <a:r>
              <a:rPr lang="en-US" dirty="0"/>
              <a:t>. ICD-codes of hypercapnic resp failure)</a:t>
            </a:r>
          </a:p>
          <a:p>
            <a:pPr lvl="1"/>
            <a:r>
              <a:rPr lang="en-US" dirty="0"/>
              <a:t>Have the same outcomes (</a:t>
            </a:r>
            <a:r>
              <a:rPr lang="en-US" dirty="0" err="1"/>
              <a:t>ie</a:t>
            </a:r>
            <a:r>
              <a:rPr lang="en-US" dirty="0"/>
              <a:t>. intubation rate, NIV use)</a:t>
            </a:r>
          </a:p>
          <a:p>
            <a:pPr marL="457200" lvl="1" indent="0">
              <a:buNone/>
            </a:pPr>
            <a:r>
              <a:rPr lang="en-US" dirty="0"/>
              <a:t>As those with ABGs confirming hypercapnia?</a:t>
            </a:r>
          </a:p>
          <a:p>
            <a:r>
              <a:rPr lang="en-US" dirty="0"/>
              <a:t>Data: Nationally aggregated EHR (</a:t>
            </a:r>
            <a:r>
              <a:rPr lang="en-US" dirty="0" err="1"/>
              <a:t>TriNetX</a:t>
            </a:r>
            <a:r>
              <a:rPr lang="en-US" dirty="0"/>
              <a:t>) of patients</a:t>
            </a:r>
          </a:p>
          <a:p>
            <a:r>
              <a:rPr lang="en-US" dirty="0"/>
              <a:t>Methods: Inverse Probability (of A/VBG)-Weighted Comparison</a:t>
            </a:r>
          </a:p>
        </p:txBody>
      </p:sp>
    </p:spTree>
    <p:extLst>
      <p:ext uri="{BB962C8B-B14F-4D97-AF65-F5344CB8AC3E}">
        <p14:creationId xmlns:p14="http://schemas.microsoft.com/office/powerpoint/2010/main" val="65474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709-1156-444C-8B35-E98CC763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***What Data Are You Going To Use***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3033BA-341B-6C6A-3851-4692CFE04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339971"/>
              </p:ext>
            </p:extLst>
          </p:nvPr>
        </p:nvGraphicFramePr>
        <p:xfrm>
          <a:off x="838200" y="1497381"/>
          <a:ext cx="10515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6897213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139373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89276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6177841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21388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9890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Meta-research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117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Do we have access to it now?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How much data-cleaning is needed?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Can it answer the question?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How big?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How long will it take?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it be used for multiple things?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Systematic Reviews with or without meta-analysis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will be surveyed and how will it be 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 a feasibility study at most.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332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cleaning is time/expertise 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Chart Review is low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(and team) 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methods expertise; limited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Inflexible time commitment, mentor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80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442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3E76-649E-8E2C-3204-142E77FE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9358-3068-221F-B8D9-EA200051A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Health-Record Data</a:t>
            </a:r>
          </a:p>
          <a:p>
            <a:r>
              <a:rPr lang="en-US" dirty="0" err="1"/>
              <a:t>TriNetX</a:t>
            </a:r>
            <a:r>
              <a:rPr lang="en-US" dirty="0"/>
              <a:t> -&gt; Ram </a:t>
            </a:r>
            <a:r>
              <a:rPr lang="en-US" dirty="0" err="1"/>
              <a:t>Gouripeddi</a:t>
            </a:r>
            <a:r>
              <a:rPr lang="en-US" dirty="0"/>
              <a:t> </a:t>
            </a:r>
          </a:p>
          <a:p>
            <a:r>
              <a:rPr lang="en-US" dirty="0"/>
              <a:t>Epic Cosmos -&gt; Vik Deshmukh (IM pays for expedited data requests)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ICU Databases: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Cohorts: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Trial Data: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36948-0ADD-A376-C0EA-F02D9067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06" y="3374005"/>
            <a:ext cx="4454769" cy="912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273CD2-EAFB-9D0E-6D82-B217C231C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692" y="990532"/>
            <a:ext cx="4219015" cy="1442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0121A-5E84-1241-7B9B-5BF24B2EF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92" y="4210145"/>
            <a:ext cx="4677508" cy="1507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9DCBCC-03BA-D11A-C1C7-627D22A8A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277" y="5501429"/>
            <a:ext cx="4219015" cy="135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2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28001</TotalTime>
  <Words>1367</Words>
  <Application>Microsoft Macintosh PowerPoint</Application>
  <PresentationFormat>Widescreen</PresentationFormat>
  <Paragraphs>171</Paragraphs>
  <Slides>15</Slides>
  <Notes>11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Office Theme</vt:lpstr>
      <vt:lpstr>PowerPoint Presentation</vt:lpstr>
      <vt:lpstr>About me: </vt:lpstr>
      <vt:lpstr>Hypercapnic Respiratory Failure:  Overall research premise</vt:lpstr>
      <vt:lpstr>The deal </vt:lpstr>
      <vt:lpstr>Hypercapnic respiratory failure work-ups</vt:lpstr>
      <vt:lpstr>Select-Health ML Project</vt:lpstr>
      <vt:lpstr>Hypercapnia Presenting Symptoms</vt:lpstr>
      <vt:lpstr>PA Artery Size on CTPA, by Age</vt:lpstr>
      <vt:lpstr>LLMs for Clinical Reasoning Education</vt:lpstr>
      <vt:lpstr>Internal Medicine Education/Seminar(s)</vt:lpstr>
      <vt:lpstr>Bayesian Clinical Reasoning</vt:lpstr>
      <vt:lpstr>Hypercapnia Diagnostics: Harm of FP vs FN</vt:lpstr>
      <vt:lpstr>Hypercap. Diagnosis: ABG vs VBG </vt:lpstr>
      <vt:lpstr>***What Data Are You Going To Use***</vt:lpstr>
      <vt:lpstr>Databases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Fellow Research Week</dc:title>
  <dc:creator>Brian Locke</dc:creator>
  <cp:lastModifiedBy>Brian Locke</cp:lastModifiedBy>
  <cp:revision>13</cp:revision>
  <dcterms:created xsi:type="dcterms:W3CDTF">2024-01-06T15:47:10Z</dcterms:created>
  <dcterms:modified xsi:type="dcterms:W3CDTF">2025-01-15T17:42:23Z</dcterms:modified>
</cp:coreProperties>
</file>